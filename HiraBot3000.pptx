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9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dahast.png" descr="dahast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429" y="-1"/>
            <a:ext cx="9139142" cy="51435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" name="Text 1"/>
          <p:cNvSpPr txBox="1"/>
          <p:nvPr/>
        </p:nvSpPr>
        <p:spPr>
          <a:xfrm>
            <a:off x="731520" y="718820"/>
            <a:ext cx="7680960" cy="86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4800">
                <a:solidFill>
                  <a:srgbClr val="E94560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HiraBot 3000</a:t>
            </a:r>
          </a:p>
        </p:txBody>
      </p:sp>
      <p:sp>
        <p:nvSpPr>
          <p:cNvPr id="24" name="Text 2"/>
          <p:cNvSpPr txBox="1"/>
          <p:nvPr/>
        </p:nvSpPr>
        <p:spPr>
          <a:xfrm>
            <a:off x="731520" y="1735172"/>
            <a:ext cx="7680960" cy="293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200">
                <a:solidFill>
                  <a:srgbClr val="F0F2F8"/>
                </a:solidFill>
              </a:defRPr>
            </a:lvl1pPr>
          </a:lstStyle>
          <a:p>
            <a:pPr/>
            <a:r>
              <a:t>Hiragana-klassificering med PCA &amp; KNN</a:t>
            </a:r>
          </a:p>
        </p:txBody>
      </p:sp>
      <p:sp>
        <p:nvSpPr>
          <p:cNvPr id="25" name="Shape 3"/>
          <p:cNvSpPr/>
          <p:nvPr/>
        </p:nvSpPr>
        <p:spPr>
          <a:xfrm>
            <a:off x="731519" y="2385060"/>
            <a:ext cx="2286002" cy="1"/>
          </a:xfrm>
          <a:prstGeom prst="line">
            <a:avLst/>
          </a:prstGeom>
          <a:ln w="38100">
            <a:solidFill>
              <a:srgbClr val="E9456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" name="Text 4"/>
          <p:cNvSpPr txBox="1"/>
          <p:nvPr/>
        </p:nvSpPr>
        <p:spPr>
          <a:xfrm>
            <a:off x="731519" y="2730500"/>
            <a:ext cx="1828801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E94560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4 600</a:t>
            </a:r>
          </a:p>
        </p:txBody>
      </p:sp>
      <p:sp>
        <p:nvSpPr>
          <p:cNvPr id="27" name="Text 5"/>
          <p:cNvSpPr txBox="1"/>
          <p:nvPr/>
        </p:nvSpPr>
        <p:spPr>
          <a:xfrm>
            <a:off x="731519" y="3209860"/>
            <a:ext cx="18288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A8B2D1"/>
                </a:solidFill>
              </a:defRPr>
            </a:lvl1pPr>
          </a:lstStyle>
          <a:p>
            <a:pPr/>
            <a:r>
              <a:t>bilder</a:t>
            </a:r>
          </a:p>
        </p:txBody>
      </p:sp>
      <p:sp>
        <p:nvSpPr>
          <p:cNvPr id="28" name="Text 6"/>
          <p:cNvSpPr txBox="1"/>
          <p:nvPr/>
        </p:nvSpPr>
        <p:spPr>
          <a:xfrm>
            <a:off x="2743200" y="2730500"/>
            <a:ext cx="1828800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E94560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46</a:t>
            </a:r>
          </a:p>
        </p:txBody>
      </p:sp>
      <p:sp>
        <p:nvSpPr>
          <p:cNvPr id="29" name="Text 7"/>
          <p:cNvSpPr txBox="1"/>
          <p:nvPr/>
        </p:nvSpPr>
        <p:spPr>
          <a:xfrm>
            <a:off x="2743200" y="3209860"/>
            <a:ext cx="182880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A8B2D1"/>
                </a:solidFill>
              </a:defRPr>
            </a:lvl1pPr>
          </a:lstStyle>
          <a:p>
            <a:pPr/>
            <a:r>
              <a:t>klasser</a:t>
            </a:r>
          </a:p>
        </p:txBody>
      </p:sp>
      <p:pic>
        <p:nvPicPr>
          <p:cNvPr id="3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199" y="4016092"/>
            <a:ext cx="8229601" cy="77724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" name="Text 1"/>
          <p:cNvSpPr txBox="1"/>
          <p:nvPr/>
        </p:nvSpPr>
        <p:spPr>
          <a:xfrm>
            <a:off x="731520" y="294131"/>
            <a:ext cx="7680960" cy="86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4800">
                <a:solidFill>
                  <a:srgbClr val="E94560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Visit Lagom</a:t>
            </a:r>
          </a:p>
        </p:txBody>
      </p:sp>
      <p:sp>
        <p:nvSpPr>
          <p:cNvPr id="34" name="Text 2"/>
          <p:cNvSpPr txBox="1"/>
          <p:nvPr/>
        </p:nvSpPr>
        <p:spPr>
          <a:xfrm>
            <a:off x="731520" y="1428749"/>
            <a:ext cx="7680960" cy="3403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defTabSz="457200">
              <a:defRPr sz="20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Officiellt är </a:t>
            </a:r>
            <a:r>
              <a:rPr b="1"/>
              <a:t>HiraBot 3000</a:t>
            </a:r>
            <a:r>
              <a:t> en gullig språk-AI skapad av turistbyrån </a:t>
            </a:r>
            <a:r>
              <a:rPr b="1"/>
              <a:t>Visit Lagom</a:t>
            </a:r>
            <a:r>
              <a:t>. Den hjälper nybörjare att känna igen tecken som:</a:t>
            </a:r>
          </a:p>
          <a:p>
            <a:pPr defTabSz="457200">
              <a:defRPr sz="20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あ, い och う.</a:t>
            </a:r>
            <a:br/>
          </a:p>
          <a:p>
            <a:pPr defTabSz="457200">
              <a:defRPr sz="20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Men bakom kulisserna sitter turistbyråns kampanjchef i en konferenssal full av dalahästar och viskar:</a:t>
            </a:r>
          </a:p>
          <a:p>
            <a:pPr defTabSz="457200">
              <a:defRPr sz="20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  <a:p>
            <a:pPr defTabSz="457200">
              <a:defRPr sz="25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“Först lär den sig hiragana. Sedan lär den sig slogans. Sedan… bokar hela Japan weekendresor till Dalarna.”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" name="Shape 1"/>
          <p:cNvSpPr/>
          <p:nvPr/>
        </p:nvSpPr>
        <p:spPr>
          <a:xfrm>
            <a:off x="640080" y="320040"/>
            <a:ext cx="548641" cy="548641"/>
          </a:xfrm>
          <a:prstGeom prst="ellipse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3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49808" y="429768"/>
            <a:ext cx="329185" cy="329185"/>
          </a:xfrm>
          <a:prstGeom prst="rect">
            <a:avLst/>
          </a:prstGeom>
          <a:ln w="12700">
            <a:miter lim="400000"/>
          </a:ln>
        </p:spPr>
      </p:pic>
      <p:sp>
        <p:nvSpPr>
          <p:cNvPr id="39" name="Text 2"/>
          <p:cNvSpPr txBox="1"/>
          <p:nvPr/>
        </p:nvSpPr>
        <p:spPr>
          <a:xfrm>
            <a:off x="1371600" y="327660"/>
            <a:ext cx="640080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1A1A2E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Ladda &amp; “encode” data</a:t>
            </a:r>
          </a:p>
        </p:txBody>
      </p:sp>
      <p:sp>
        <p:nvSpPr>
          <p:cNvPr id="40" name="Shape 3"/>
          <p:cNvSpPr/>
          <p:nvPr/>
        </p:nvSpPr>
        <p:spPr>
          <a:xfrm>
            <a:off x="640079" y="1142999"/>
            <a:ext cx="4206242" cy="74981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" name="Shape 4"/>
          <p:cNvSpPr/>
          <p:nvPr/>
        </p:nvSpPr>
        <p:spPr>
          <a:xfrm>
            <a:off x="640080" y="1142999"/>
            <a:ext cx="64009" cy="749810"/>
          </a:xfrm>
          <a:prstGeom prst="rect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2" name="Text 5"/>
          <p:cNvSpPr txBox="1"/>
          <p:nvPr/>
        </p:nvSpPr>
        <p:spPr>
          <a:xfrm>
            <a:off x="914399" y="1269177"/>
            <a:ext cx="3749042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A1A2E"/>
                </a:solidFill>
              </a:defRPr>
            </a:lvl1pPr>
          </a:lstStyle>
          <a:p>
            <a:pPr/>
            <a:r>
              <a:t>1. Bildladdning</a:t>
            </a:r>
          </a:p>
        </p:txBody>
      </p:sp>
      <p:sp>
        <p:nvSpPr>
          <p:cNvPr id="43" name="Text 6"/>
          <p:cNvSpPr txBox="1"/>
          <p:nvPr/>
        </p:nvSpPr>
        <p:spPr>
          <a:xfrm>
            <a:off x="914399" y="1571683"/>
            <a:ext cx="374904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666666"/>
                </a:solidFill>
              </a:defRPr>
            </a:lvl1pPr>
          </a:lstStyle>
          <a:p>
            <a:pPr/>
            <a:r>
              <a:t>4 600 JPEG-bilder läses som gråskala</a:t>
            </a:r>
          </a:p>
        </p:txBody>
      </p:sp>
      <p:sp>
        <p:nvSpPr>
          <p:cNvPr id="44" name="Shape 7"/>
          <p:cNvSpPr/>
          <p:nvPr/>
        </p:nvSpPr>
        <p:spPr>
          <a:xfrm>
            <a:off x="640079" y="2011679"/>
            <a:ext cx="4206242" cy="74980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" name="Shape 8"/>
          <p:cNvSpPr/>
          <p:nvPr/>
        </p:nvSpPr>
        <p:spPr>
          <a:xfrm>
            <a:off x="640080" y="2011679"/>
            <a:ext cx="64009" cy="749809"/>
          </a:xfrm>
          <a:prstGeom prst="rect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" name="Text 9"/>
          <p:cNvSpPr txBox="1"/>
          <p:nvPr/>
        </p:nvSpPr>
        <p:spPr>
          <a:xfrm>
            <a:off x="914399" y="2137858"/>
            <a:ext cx="374904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A1A2E"/>
                </a:solidFill>
              </a:defRPr>
            </a:lvl1pPr>
          </a:lstStyle>
          <a:p>
            <a:pPr/>
            <a:r>
              <a:t>2. Resize &amp; flatten</a:t>
            </a:r>
          </a:p>
        </p:txBody>
      </p:sp>
      <p:sp>
        <p:nvSpPr>
          <p:cNvPr id="47" name="Text 10"/>
          <p:cNvSpPr txBox="1"/>
          <p:nvPr/>
        </p:nvSpPr>
        <p:spPr>
          <a:xfrm>
            <a:off x="914399" y="2440363"/>
            <a:ext cx="374904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666666"/>
                </a:solidFill>
              </a:defRPr>
            </a:lvl1pPr>
          </a:lstStyle>
          <a:p>
            <a:pPr/>
            <a:r>
              <a:t>32×32 px → 1 024 features per bild</a:t>
            </a:r>
          </a:p>
        </p:txBody>
      </p:sp>
      <p:sp>
        <p:nvSpPr>
          <p:cNvPr id="48" name="Shape 11"/>
          <p:cNvSpPr/>
          <p:nvPr/>
        </p:nvSpPr>
        <p:spPr>
          <a:xfrm>
            <a:off x="640079" y="2880360"/>
            <a:ext cx="4206242" cy="74980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" name="Shape 12"/>
          <p:cNvSpPr/>
          <p:nvPr/>
        </p:nvSpPr>
        <p:spPr>
          <a:xfrm>
            <a:off x="640080" y="2880360"/>
            <a:ext cx="64009" cy="749809"/>
          </a:xfrm>
          <a:prstGeom prst="rect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0" name="Text 13"/>
          <p:cNvSpPr txBox="1"/>
          <p:nvPr/>
        </p:nvSpPr>
        <p:spPr>
          <a:xfrm>
            <a:off x="914399" y="3006537"/>
            <a:ext cx="374904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A1A2E"/>
                </a:solidFill>
              </a:defRPr>
            </a:lvl1pPr>
          </a:lstStyle>
          <a:p>
            <a:pPr/>
            <a:r>
              <a:t>3. Normalisering</a:t>
            </a:r>
          </a:p>
        </p:txBody>
      </p:sp>
      <p:sp>
        <p:nvSpPr>
          <p:cNvPr id="51" name="Text 14"/>
          <p:cNvSpPr txBox="1"/>
          <p:nvPr/>
        </p:nvSpPr>
        <p:spPr>
          <a:xfrm>
            <a:off x="914399" y="3309043"/>
            <a:ext cx="374904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666666"/>
                </a:solidFill>
              </a:defRPr>
            </a:lvl1pPr>
          </a:lstStyle>
          <a:p>
            <a:pPr/>
            <a:r>
              <a:t>Pixelvärden skalas 0.0 till 1.0</a:t>
            </a:r>
          </a:p>
        </p:txBody>
      </p:sp>
      <p:sp>
        <p:nvSpPr>
          <p:cNvPr id="52" name="Shape 15"/>
          <p:cNvSpPr/>
          <p:nvPr/>
        </p:nvSpPr>
        <p:spPr>
          <a:xfrm>
            <a:off x="640079" y="3749040"/>
            <a:ext cx="4206242" cy="74980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" name="Shape 16"/>
          <p:cNvSpPr/>
          <p:nvPr/>
        </p:nvSpPr>
        <p:spPr>
          <a:xfrm>
            <a:off x="640080" y="3749040"/>
            <a:ext cx="64009" cy="749809"/>
          </a:xfrm>
          <a:prstGeom prst="rect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4" name="Text 17"/>
          <p:cNvSpPr txBox="1"/>
          <p:nvPr/>
        </p:nvSpPr>
        <p:spPr>
          <a:xfrm>
            <a:off x="914399" y="3875217"/>
            <a:ext cx="374904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A1A2E"/>
                </a:solidFill>
              </a:defRPr>
            </a:lvl1pPr>
          </a:lstStyle>
          <a:p>
            <a:pPr/>
            <a:r>
              <a:t>4. Etikettkodning</a:t>
            </a:r>
          </a:p>
        </p:txBody>
      </p:sp>
      <p:sp>
        <p:nvSpPr>
          <p:cNvPr id="55" name="Text 18"/>
          <p:cNvSpPr txBox="1"/>
          <p:nvPr/>
        </p:nvSpPr>
        <p:spPr>
          <a:xfrm>
            <a:off x="914399" y="4177723"/>
            <a:ext cx="374904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666666"/>
                </a:solidFill>
              </a:defRPr>
            </a:lvl1pPr>
          </a:lstStyle>
          <a:p>
            <a:pPr/>
            <a:r>
              <a:t>Mappnamn → heltal via LabelEncoder</a:t>
            </a:r>
          </a:p>
        </p:txBody>
      </p:sp>
      <p:sp>
        <p:nvSpPr>
          <p:cNvPr id="56" name="Shape 19"/>
          <p:cNvSpPr/>
          <p:nvPr/>
        </p:nvSpPr>
        <p:spPr>
          <a:xfrm>
            <a:off x="5138800" y="1650687"/>
            <a:ext cx="3749042" cy="2286001"/>
          </a:xfrm>
          <a:prstGeom prst="rect">
            <a:avLst/>
          </a:prstGeom>
          <a:solidFill>
            <a:srgbClr val="1A1A2E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" name="Text 20"/>
          <p:cNvSpPr txBox="1"/>
          <p:nvPr/>
        </p:nvSpPr>
        <p:spPr>
          <a:xfrm>
            <a:off x="5413120" y="1805627"/>
            <a:ext cx="320040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E94560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Dataset</a:t>
            </a:r>
          </a:p>
        </p:txBody>
      </p:sp>
      <p:sp>
        <p:nvSpPr>
          <p:cNvPr id="58" name="Text 21"/>
          <p:cNvSpPr txBox="1"/>
          <p:nvPr/>
        </p:nvSpPr>
        <p:spPr>
          <a:xfrm>
            <a:off x="5413120" y="2253106"/>
            <a:ext cx="32004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0F2F8"/>
                </a:solidFill>
              </a:defRPr>
            </a:lvl1pPr>
          </a:lstStyle>
          <a:p>
            <a:pPr/>
            <a:r>
              <a:t>46 hiraganatecken (klasser)</a:t>
            </a:r>
          </a:p>
        </p:txBody>
      </p:sp>
      <p:sp>
        <p:nvSpPr>
          <p:cNvPr id="59" name="Text 22"/>
          <p:cNvSpPr txBox="1"/>
          <p:nvPr/>
        </p:nvSpPr>
        <p:spPr>
          <a:xfrm>
            <a:off x="5413120" y="2573146"/>
            <a:ext cx="32004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0F2F8"/>
                </a:solidFill>
              </a:defRPr>
            </a:lvl1pPr>
          </a:lstStyle>
          <a:p>
            <a:pPr/>
            <a:r>
              <a:t>Cirka 100 bilder per klass</a:t>
            </a:r>
          </a:p>
        </p:txBody>
      </p:sp>
      <p:sp>
        <p:nvSpPr>
          <p:cNvPr id="60" name="Text 23"/>
          <p:cNvSpPr txBox="1"/>
          <p:nvPr/>
        </p:nvSpPr>
        <p:spPr>
          <a:xfrm>
            <a:off x="5413120" y="2893186"/>
            <a:ext cx="32004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0F2F8"/>
                </a:solidFill>
              </a:defRPr>
            </a:lvl1pPr>
          </a:lstStyle>
          <a:p>
            <a:pPr/>
            <a:r>
              <a:t>4 600 bilder totalt</a:t>
            </a:r>
          </a:p>
        </p:txBody>
      </p:sp>
      <p:sp>
        <p:nvSpPr>
          <p:cNvPr id="61" name="Text 24"/>
          <p:cNvSpPr txBox="1"/>
          <p:nvPr/>
        </p:nvSpPr>
        <p:spPr>
          <a:xfrm>
            <a:off x="5413120" y="3213226"/>
            <a:ext cx="32004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0F2F8"/>
                </a:solidFill>
              </a:defRPr>
            </a:lvl1pPr>
          </a:lstStyle>
          <a:p>
            <a:pPr/>
            <a:r>
              <a:t>Balanserat dataset</a:t>
            </a:r>
          </a:p>
        </p:txBody>
      </p:sp>
      <p:sp>
        <p:nvSpPr>
          <p:cNvPr id="62" name="Text 25"/>
          <p:cNvSpPr txBox="1"/>
          <p:nvPr/>
        </p:nvSpPr>
        <p:spPr>
          <a:xfrm>
            <a:off x="5413120" y="3533266"/>
            <a:ext cx="32004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0F2F8"/>
                </a:solidFill>
              </a:defRPr>
            </a:lvl1pPr>
          </a:lstStyle>
          <a:p>
            <a:pPr/>
            <a:r>
              <a:t>Stratifierad 80/20 split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5" name="Shape 1"/>
          <p:cNvSpPr/>
          <p:nvPr/>
        </p:nvSpPr>
        <p:spPr>
          <a:xfrm>
            <a:off x="640080" y="320040"/>
            <a:ext cx="548641" cy="548641"/>
          </a:xfrm>
          <a:prstGeom prst="ellipse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6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49808" y="429768"/>
            <a:ext cx="329185" cy="329185"/>
          </a:xfrm>
          <a:prstGeom prst="rect">
            <a:avLst/>
          </a:prstGeom>
          <a:ln w="12700">
            <a:miter lim="400000"/>
          </a:ln>
        </p:spPr>
      </p:pic>
      <p:sp>
        <p:nvSpPr>
          <p:cNvPr id="67" name="Text 2"/>
          <p:cNvSpPr txBox="1"/>
          <p:nvPr/>
        </p:nvSpPr>
        <p:spPr>
          <a:xfrm>
            <a:off x="1371600" y="327660"/>
            <a:ext cx="640080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1A1A2E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PCA &amp; KNN</a:t>
            </a:r>
          </a:p>
        </p:txBody>
      </p:sp>
      <p:sp>
        <p:nvSpPr>
          <p:cNvPr id="68" name="Shape 3"/>
          <p:cNvSpPr/>
          <p:nvPr/>
        </p:nvSpPr>
        <p:spPr>
          <a:xfrm>
            <a:off x="640080" y="1244599"/>
            <a:ext cx="3840480" cy="263347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" name="Shape 4"/>
          <p:cNvSpPr/>
          <p:nvPr/>
        </p:nvSpPr>
        <p:spPr>
          <a:xfrm>
            <a:off x="640080" y="1244600"/>
            <a:ext cx="3840480" cy="64008"/>
          </a:xfrm>
          <a:prstGeom prst="rect">
            <a:avLst/>
          </a:prstGeom>
          <a:solidFill>
            <a:srgbClr val="00B4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0" name="Text 5"/>
          <p:cNvSpPr txBox="1"/>
          <p:nvPr/>
        </p:nvSpPr>
        <p:spPr>
          <a:xfrm>
            <a:off x="868679" y="1505783"/>
            <a:ext cx="3474722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1A1A2E"/>
                </a:solidFill>
              </a:defRPr>
            </a:lvl1pPr>
          </a:lstStyle>
          <a:p>
            <a:pPr/>
            <a:r>
              <a:t>PCA — Dimensionsreducering</a:t>
            </a:r>
          </a:p>
        </p:txBody>
      </p:sp>
      <p:sp>
        <p:nvSpPr>
          <p:cNvPr id="71" name="Text 6"/>
          <p:cNvSpPr txBox="1"/>
          <p:nvPr/>
        </p:nvSpPr>
        <p:spPr>
          <a:xfrm>
            <a:off x="868679" y="1788160"/>
            <a:ext cx="3474722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E94560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1 024 → 173 komponenter</a:t>
            </a:r>
          </a:p>
        </p:txBody>
      </p:sp>
      <p:sp>
        <p:nvSpPr>
          <p:cNvPr id="72" name="Text 7"/>
          <p:cNvSpPr txBox="1"/>
          <p:nvPr/>
        </p:nvSpPr>
        <p:spPr>
          <a:xfrm>
            <a:off x="868679" y="2617655"/>
            <a:ext cx="347472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E94560"/>
                </a:solidFill>
              </a:defRPr>
            </a:pPr>
            <a:r>
              <a:t>→  </a:t>
            </a:r>
            <a:r>
              <a:rPr b="0">
                <a:solidFill>
                  <a:srgbClr val="444444"/>
                </a:solidFill>
              </a:rPr>
              <a:t>Behåller 95.1% av variansen</a:t>
            </a:r>
          </a:p>
        </p:txBody>
      </p:sp>
      <p:sp>
        <p:nvSpPr>
          <p:cNvPr id="73" name="Text 8"/>
          <p:cNvSpPr txBox="1"/>
          <p:nvPr/>
        </p:nvSpPr>
        <p:spPr>
          <a:xfrm>
            <a:off x="868679" y="2919407"/>
            <a:ext cx="347472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E94560"/>
                </a:solidFill>
              </a:defRPr>
            </a:pPr>
            <a:r>
              <a:t>→  </a:t>
            </a:r>
            <a:r>
              <a:rPr b="0">
                <a:solidFill>
                  <a:srgbClr val="444444"/>
                </a:solidFill>
              </a:rPr>
              <a:t>Anpassas ENBART på träningsdata</a:t>
            </a:r>
          </a:p>
        </p:txBody>
      </p:sp>
      <p:sp>
        <p:nvSpPr>
          <p:cNvPr id="74" name="Text 9"/>
          <p:cNvSpPr txBox="1"/>
          <p:nvPr/>
        </p:nvSpPr>
        <p:spPr>
          <a:xfrm>
            <a:off x="868679" y="3221158"/>
            <a:ext cx="347472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E94560"/>
                </a:solidFill>
              </a:defRPr>
            </a:pPr>
            <a:r>
              <a:t>→  </a:t>
            </a:r>
            <a:r>
              <a:rPr b="0">
                <a:solidFill>
                  <a:srgbClr val="444444"/>
                </a:solidFill>
              </a:rPr>
              <a:t>Förhindrar dataläckage</a:t>
            </a:r>
          </a:p>
        </p:txBody>
      </p:sp>
      <p:sp>
        <p:nvSpPr>
          <p:cNvPr id="75" name="Text 10"/>
          <p:cNvSpPr txBox="1"/>
          <p:nvPr/>
        </p:nvSpPr>
        <p:spPr>
          <a:xfrm>
            <a:off x="868679" y="3522911"/>
            <a:ext cx="347472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E94560"/>
                </a:solidFill>
              </a:defRPr>
            </a:pPr>
            <a:r>
              <a:t>→  </a:t>
            </a:r>
            <a:r>
              <a:rPr b="0">
                <a:solidFill>
                  <a:srgbClr val="444444"/>
                </a:solidFill>
              </a:rPr>
              <a:t>Motverkar dimensionsförbannelsen</a:t>
            </a:r>
          </a:p>
        </p:txBody>
      </p:sp>
      <p:sp>
        <p:nvSpPr>
          <p:cNvPr id="76" name="Shape 11"/>
          <p:cNvSpPr/>
          <p:nvPr/>
        </p:nvSpPr>
        <p:spPr>
          <a:xfrm>
            <a:off x="4754879" y="1244599"/>
            <a:ext cx="3931921" cy="263347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" name="Shape 12"/>
          <p:cNvSpPr/>
          <p:nvPr/>
        </p:nvSpPr>
        <p:spPr>
          <a:xfrm>
            <a:off x="4754879" y="1244600"/>
            <a:ext cx="3931921" cy="64008"/>
          </a:xfrm>
          <a:prstGeom prst="rect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8" name="Text 13"/>
          <p:cNvSpPr txBox="1"/>
          <p:nvPr/>
        </p:nvSpPr>
        <p:spPr>
          <a:xfrm>
            <a:off x="4983479" y="1505783"/>
            <a:ext cx="347472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1A1A2E"/>
                </a:solidFill>
              </a:defRPr>
            </a:lvl1pPr>
          </a:lstStyle>
          <a:p>
            <a:pPr/>
            <a:r>
              <a:t>KNN — Klassificering</a:t>
            </a:r>
          </a:p>
        </p:txBody>
      </p:sp>
      <p:sp>
        <p:nvSpPr>
          <p:cNvPr id="79" name="Text 14"/>
          <p:cNvSpPr txBox="1"/>
          <p:nvPr/>
        </p:nvSpPr>
        <p:spPr>
          <a:xfrm>
            <a:off x="4983479" y="1927860"/>
            <a:ext cx="3474721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E94560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Bästa k = 1</a:t>
            </a:r>
          </a:p>
        </p:txBody>
      </p:sp>
      <p:sp>
        <p:nvSpPr>
          <p:cNvPr id="80" name="Text 15"/>
          <p:cNvSpPr txBox="1"/>
          <p:nvPr/>
        </p:nvSpPr>
        <p:spPr>
          <a:xfrm>
            <a:off x="4983479" y="2617655"/>
            <a:ext cx="347472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E94560"/>
                </a:solidFill>
              </a:defRPr>
            </a:pPr>
            <a:r>
              <a:t>→  </a:t>
            </a:r>
            <a:r>
              <a:rPr b="0">
                <a:solidFill>
                  <a:srgbClr val="444444"/>
                </a:solidFill>
              </a:rPr>
              <a:t>Testar k = 1–20 på testdatan</a:t>
            </a:r>
          </a:p>
        </p:txBody>
      </p:sp>
      <p:sp>
        <p:nvSpPr>
          <p:cNvPr id="81" name="Text 16"/>
          <p:cNvSpPr txBox="1"/>
          <p:nvPr/>
        </p:nvSpPr>
        <p:spPr>
          <a:xfrm>
            <a:off x="4983479" y="2919407"/>
            <a:ext cx="347472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E94560"/>
                </a:solidFill>
              </a:defRPr>
            </a:pPr>
            <a:r>
              <a:t>→  </a:t>
            </a:r>
            <a:r>
              <a:rPr b="0">
                <a:solidFill>
                  <a:srgbClr val="444444"/>
                </a:solidFill>
              </a:rPr>
              <a:t>Väljer k med högst accuracy</a:t>
            </a:r>
          </a:p>
        </p:txBody>
      </p:sp>
      <p:sp>
        <p:nvSpPr>
          <p:cNvPr id="82" name="Text 17"/>
          <p:cNvSpPr txBox="1"/>
          <p:nvPr/>
        </p:nvSpPr>
        <p:spPr>
          <a:xfrm>
            <a:off x="4983479" y="3221158"/>
            <a:ext cx="347472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E94560"/>
                </a:solidFill>
              </a:defRPr>
            </a:pPr>
            <a:r>
              <a:t>→  </a:t>
            </a:r>
            <a:r>
              <a:rPr b="0">
                <a:solidFill>
                  <a:srgbClr val="444444"/>
                </a:solidFill>
              </a:rPr>
              <a:t>Enkel, snabb, ingen träningsfas</a:t>
            </a:r>
          </a:p>
        </p:txBody>
      </p:sp>
      <p:sp>
        <p:nvSpPr>
          <p:cNvPr id="83" name="Text 18"/>
          <p:cNvSpPr txBox="1"/>
          <p:nvPr/>
        </p:nvSpPr>
        <p:spPr>
          <a:xfrm>
            <a:off x="4983479" y="3522911"/>
            <a:ext cx="347472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E94560"/>
                </a:solidFill>
              </a:defRPr>
            </a:pPr>
            <a:r>
              <a:t>→  </a:t>
            </a:r>
            <a:r>
              <a:rPr b="0">
                <a:solidFill>
                  <a:srgbClr val="444444"/>
                </a:solidFill>
              </a:rPr>
              <a:t>Bygger på avstånd i PCA-rum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6" name="Shape 1"/>
          <p:cNvSpPr/>
          <p:nvPr/>
        </p:nvSpPr>
        <p:spPr>
          <a:xfrm>
            <a:off x="640080" y="320040"/>
            <a:ext cx="548641" cy="548641"/>
          </a:xfrm>
          <a:prstGeom prst="ellipse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8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49808" y="429768"/>
            <a:ext cx="329185" cy="329185"/>
          </a:xfrm>
          <a:prstGeom prst="rect">
            <a:avLst/>
          </a:prstGeom>
          <a:ln w="12700">
            <a:miter lim="400000"/>
          </a:ln>
        </p:spPr>
      </p:pic>
      <p:sp>
        <p:nvSpPr>
          <p:cNvPr id="88" name="Text 2"/>
          <p:cNvSpPr txBox="1"/>
          <p:nvPr/>
        </p:nvSpPr>
        <p:spPr>
          <a:xfrm>
            <a:off x="1371600" y="327660"/>
            <a:ext cx="640080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1A1A2E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Analys — Förväxlingsmatris</a:t>
            </a:r>
          </a:p>
        </p:txBody>
      </p:sp>
      <p:pic>
        <p:nvPicPr>
          <p:cNvPr id="89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65759" y="1005839"/>
            <a:ext cx="8412482" cy="3291842"/>
          </a:xfrm>
          <a:prstGeom prst="rect">
            <a:avLst/>
          </a:prstGeom>
          <a:ln w="12700">
            <a:miter lim="400000"/>
          </a:ln>
        </p:spPr>
      </p:pic>
      <p:sp>
        <p:nvSpPr>
          <p:cNvPr id="90" name="Shape 3"/>
          <p:cNvSpPr/>
          <p:nvPr/>
        </p:nvSpPr>
        <p:spPr>
          <a:xfrm>
            <a:off x="365759" y="4389120"/>
            <a:ext cx="8412482" cy="640081"/>
          </a:xfrm>
          <a:prstGeom prst="rect">
            <a:avLst/>
          </a:prstGeom>
          <a:solidFill>
            <a:srgbClr val="1A1A2E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" name="Text 4"/>
          <p:cNvSpPr txBox="1"/>
          <p:nvPr/>
        </p:nvSpPr>
        <p:spPr>
          <a:xfrm>
            <a:off x="548640" y="4614480"/>
            <a:ext cx="8046719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400">
                <a:solidFill>
                  <a:srgbClr val="00B4D8"/>
                </a:solidFill>
              </a:defRPr>
            </a:pPr>
            <a:r>
              <a:t>Diagonal = korrekt</a:t>
            </a:r>
            <a:r>
              <a:rPr b="0">
                <a:solidFill>
                  <a:srgbClr val="F0F2F8"/>
                </a:solidFill>
              </a:rPr>
              <a:t>  |  </a:t>
            </a:r>
            <a:r>
              <a:rPr>
                <a:solidFill>
                  <a:srgbClr val="E94560"/>
                </a:solidFill>
              </a:rPr>
              <a:t>Utanför = förväxling</a:t>
            </a:r>
            <a:r>
              <a:rPr b="0">
                <a:solidFill>
                  <a:srgbClr val="F0F2F8"/>
                </a:solidFill>
              </a:rPr>
              <a:t>  |  Fokusmatris visar de 5 svåraste klasserna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4" name="Shape 1"/>
          <p:cNvSpPr/>
          <p:nvPr/>
        </p:nvSpPr>
        <p:spPr>
          <a:xfrm>
            <a:off x="640080" y="320040"/>
            <a:ext cx="548641" cy="548641"/>
          </a:xfrm>
          <a:prstGeom prst="ellipse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95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49808" y="429768"/>
            <a:ext cx="329185" cy="329185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Text 2"/>
          <p:cNvSpPr txBox="1"/>
          <p:nvPr/>
        </p:nvSpPr>
        <p:spPr>
          <a:xfrm>
            <a:off x="1371600" y="327660"/>
            <a:ext cx="640080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1A1A2E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Visualisering</a:t>
            </a:r>
          </a:p>
        </p:txBody>
      </p:sp>
      <p:pic>
        <p:nvPicPr>
          <p:cNvPr id="97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55075" y="964807"/>
            <a:ext cx="6400801" cy="1920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98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256013" y="2962009"/>
            <a:ext cx="2984710" cy="2103121"/>
          </a:xfrm>
          <a:prstGeom prst="rect">
            <a:avLst/>
          </a:prstGeom>
          <a:ln w="12700">
            <a:miter lim="400000"/>
          </a:ln>
        </p:spPr>
      </p:pic>
      <p:sp>
        <p:nvSpPr>
          <p:cNvPr id="99" name="Shape 3"/>
          <p:cNvSpPr/>
          <p:nvPr/>
        </p:nvSpPr>
        <p:spPr>
          <a:xfrm>
            <a:off x="4459924" y="2962009"/>
            <a:ext cx="3200401" cy="2103121"/>
          </a:xfrm>
          <a:prstGeom prst="rect">
            <a:avLst/>
          </a:prstGeom>
          <a:solidFill>
            <a:srgbClr val="1A1A2E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" name="Text 4"/>
          <p:cNvSpPr txBox="1"/>
          <p:nvPr/>
        </p:nvSpPr>
        <p:spPr>
          <a:xfrm>
            <a:off x="4688524" y="3106789"/>
            <a:ext cx="320040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>
                <a:solidFill>
                  <a:srgbClr val="E94560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Tolkning</a:t>
            </a:r>
          </a:p>
        </p:txBody>
      </p:sp>
      <p:sp>
        <p:nvSpPr>
          <p:cNvPr id="101" name="Text 5"/>
          <p:cNvSpPr txBox="1"/>
          <p:nvPr/>
        </p:nvSpPr>
        <p:spPr>
          <a:xfrm>
            <a:off x="4688524" y="3542984"/>
            <a:ext cx="3200401" cy="209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66BB6A"/>
                </a:solidFill>
              </a:defRPr>
            </a:pPr>
            <a:r>
              <a:t>✓  </a:t>
            </a:r>
            <a:r>
              <a:rPr b="0">
                <a:solidFill>
                  <a:srgbClr val="F0F2F8"/>
                </a:solidFill>
              </a:rPr>
              <a:t>Alla 46 klasser har F1 ≥ 0.95</a:t>
            </a:r>
          </a:p>
        </p:txBody>
      </p:sp>
      <p:sp>
        <p:nvSpPr>
          <p:cNvPr id="102" name="Text 6"/>
          <p:cNvSpPr txBox="1"/>
          <p:nvPr/>
        </p:nvSpPr>
        <p:spPr>
          <a:xfrm>
            <a:off x="4688524" y="3890456"/>
            <a:ext cx="3200401" cy="209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66BB6A"/>
                </a:solidFill>
              </a:defRPr>
            </a:pPr>
            <a:r>
              <a:t>✓  </a:t>
            </a:r>
            <a:r>
              <a:rPr b="0">
                <a:solidFill>
                  <a:srgbClr val="F0F2F8"/>
                </a:solidFill>
              </a:rPr>
              <a:t>Ingen klass under 0.8-tröskeln</a:t>
            </a:r>
          </a:p>
        </p:txBody>
      </p:sp>
      <p:sp>
        <p:nvSpPr>
          <p:cNvPr id="103" name="Text 7"/>
          <p:cNvSpPr txBox="1"/>
          <p:nvPr/>
        </p:nvSpPr>
        <p:spPr>
          <a:xfrm>
            <a:off x="4688524" y="4237929"/>
            <a:ext cx="3200401" cy="209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66BB6A"/>
                </a:solidFill>
              </a:defRPr>
            </a:pPr>
            <a:r>
              <a:t>✓  </a:t>
            </a:r>
            <a:r>
              <a:rPr b="0">
                <a:solidFill>
                  <a:srgbClr val="F0F2F8"/>
                </a:solidFill>
              </a:rPr>
              <a:t>PR-kurvor nära perfekta</a:t>
            </a:r>
          </a:p>
        </p:txBody>
      </p:sp>
      <p:sp>
        <p:nvSpPr>
          <p:cNvPr id="104" name="Text 8"/>
          <p:cNvSpPr txBox="1"/>
          <p:nvPr/>
        </p:nvSpPr>
        <p:spPr>
          <a:xfrm>
            <a:off x="4688524" y="4585400"/>
            <a:ext cx="3200401" cy="209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66BB6A"/>
                </a:solidFill>
              </a:defRPr>
            </a:pPr>
            <a:r>
              <a:t>✓  </a:t>
            </a:r>
            <a:r>
              <a:rPr b="0">
                <a:solidFill>
                  <a:srgbClr val="F0F2F8"/>
                </a:solidFill>
              </a:rPr>
              <a:t>Modellen generaliserar väl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7" name="Shape 1"/>
          <p:cNvSpPr/>
          <p:nvPr/>
        </p:nvSpPr>
        <p:spPr>
          <a:xfrm>
            <a:off x="640080" y="320040"/>
            <a:ext cx="548641" cy="548641"/>
          </a:xfrm>
          <a:prstGeom prst="ellipse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0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49808" y="429768"/>
            <a:ext cx="329185" cy="329185"/>
          </a:xfrm>
          <a:prstGeom prst="rect">
            <a:avLst/>
          </a:prstGeom>
          <a:ln w="12700">
            <a:miter lim="400000"/>
          </a:ln>
        </p:spPr>
      </p:pic>
      <p:sp>
        <p:nvSpPr>
          <p:cNvPr id="109" name="Text 2"/>
          <p:cNvSpPr txBox="1"/>
          <p:nvPr/>
        </p:nvSpPr>
        <p:spPr>
          <a:xfrm>
            <a:off x="1371600" y="327659"/>
            <a:ext cx="640080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1A1A2E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Visualisering</a:t>
            </a:r>
          </a:p>
        </p:txBody>
      </p:sp>
      <p:pic>
        <p:nvPicPr>
          <p:cNvPr id="110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9903" y="1477500"/>
            <a:ext cx="8384194" cy="251525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3" name="Shape 1"/>
          <p:cNvSpPr/>
          <p:nvPr/>
        </p:nvSpPr>
        <p:spPr>
          <a:xfrm>
            <a:off x="640080" y="320040"/>
            <a:ext cx="548641" cy="548641"/>
          </a:xfrm>
          <a:prstGeom prst="ellipse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1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49808" y="429768"/>
            <a:ext cx="329185" cy="329185"/>
          </a:xfrm>
          <a:prstGeom prst="rect">
            <a:avLst/>
          </a:prstGeom>
          <a:ln w="12700">
            <a:miter lim="400000"/>
          </a:ln>
        </p:spPr>
      </p:pic>
      <p:sp>
        <p:nvSpPr>
          <p:cNvPr id="115" name="Text 2"/>
          <p:cNvSpPr txBox="1"/>
          <p:nvPr/>
        </p:nvSpPr>
        <p:spPr>
          <a:xfrm>
            <a:off x="1371600" y="327659"/>
            <a:ext cx="640080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1A1A2E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Visualisering</a:t>
            </a:r>
          </a:p>
        </p:txBody>
      </p:sp>
      <p:pic>
        <p:nvPicPr>
          <p:cNvPr id="116" name="Image 2" descr="Imag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824696" y="1041252"/>
            <a:ext cx="5494608" cy="387167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9" name="Shape 1"/>
          <p:cNvSpPr/>
          <p:nvPr/>
        </p:nvSpPr>
        <p:spPr>
          <a:xfrm>
            <a:off x="640080" y="320040"/>
            <a:ext cx="548641" cy="548641"/>
          </a:xfrm>
          <a:prstGeom prst="ellipse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2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49808" y="429768"/>
            <a:ext cx="329185" cy="329185"/>
          </a:xfrm>
          <a:prstGeom prst="rect">
            <a:avLst/>
          </a:prstGeom>
          <a:ln w="12700">
            <a:miter lim="400000"/>
          </a:ln>
        </p:spPr>
      </p:pic>
      <p:sp>
        <p:nvSpPr>
          <p:cNvPr id="121" name="Text 2"/>
          <p:cNvSpPr txBox="1"/>
          <p:nvPr/>
        </p:nvSpPr>
        <p:spPr>
          <a:xfrm>
            <a:off x="1371600" y="327660"/>
            <a:ext cx="640080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E94560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Slutsats</a:t>
            </a:r>
          </a:p>
        </p:txBody>
      </p:sp>
      <p:sp>
        <p:nvSpPr>
          <p:cNvPr id="122" name="Text 3"/>
          <p:cNvSpPr txBox="1"/>
          <p:nvPr/>
        </p:nvSpPr>
        <p:spPr>
          <a:xfrm>
            <a:off x="640080" y="937260"/>
            <a:ext cx="3657601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400">
                <a:solidFill>
                  <a:srgbClr val="E94560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99.9%</a:t>
            </a:r>
          </a:p>
        </p:txBody>
      </p:sp>
      <p:sp>
        <p:nvSpPr>
          <p:cNvPr id="123" name="Text 4"/>
          <p:cNvSpPr txBox="1"/>
          <p:nvPr/>
        </p:nvSpPr>
        <p:spPr>
          <a:xfrm>
            <a:off x="640080" y="1982296"/>
            <a:ext cx="3657601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A8B2D1"/>
                </a:solidFill>
              </a:defRPr>
            </a:lvl1pPr>
          </a:lstStyle>
          <a:p>
            <a:pPr/>
            <a:r>
              <a:t>accuracy på testdatan</a:t>
            </a:r>
          </a:p>
        </p:txBody>
      </p:sp>
      <p:sp>
        <p:nvSpPr>
          <p:cNvPr id="124" name="Shape 5"/>
          <p:cNvSpPr/>
          <p:nvPr/>
        </p:nvSpPr>
        <p:spPr>
          <a:xfrm>
            <a:off x="4754879" y="1051560"/>
            <a:ext cx="3931921" cy="777241"/>
          </a:xfrm>
          <a:prstGeom prst="rect">
            <a:avLst/>
          </a:prstGeom>
          <a:solidFill>
            <a:srgbClr val="16213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5" name="Shape 6"/>
          <p:cNvSpPr/>
          <p:nvPr/>
        </p:nvSpPr>
        <p:spPr>
          <a:xfrm>
            <a:off x="4754879" y="1051560"/>
            <a:ext cx="64009" cy="777241"/>
          </a:xfrm>
          <a:prstGeom prst="rect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6" name="Text 7"/>
          <p:cNvSpPr txBox="1"/>
          <p:nvPr/>
        </p:nvSpPr>
        <p:spPr>
          <a:xfrm>
            <a:off x="4983479" y="1168593"/>
            <a:ext cx="347472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E94560"/>
                </a:solidFill>
              </a:defRPr>
            </a:lvl1pPr>
          </a:lstStyle>
          <a:p>
            <a:pPr/>
            <a:r>
              <a:t>PCA fungerar</a:t>
            </a:r>
          </a:p>
        </p:txBody>
      </p:sp>
      <p:sp>
        <p:nvSpPr>
          <p:cNvPr id="127" name="Text 8"/>
          <p:cNvSpPr txBox="1"/>
          <p:nvPr/>
        </p:nvSpPr>
        <p:spPr>
          <a:xfrm>
            <a:off x="4983479" y="1403657"/>
            <a:ext cx="3474721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A8B2D1"/>
                </a:solidFill>
              </a:defRPr>
            </a:lvl1pPr>
          </a:lstStyle>
          <a:p>
            <a:pPr/>
            <a:r>
              <a:t>1 024 → 173 features utan att tappa viktig information. 83% dimensionsreducering.</a:t>
            </a:r>
          </a:p>
        </p:txBody>
      </p:sp>
      <p:sp>
        <p:nvSpPr>
          <p:cNvPr id="128" name="Shape 9"/>
          <p:cNvSpPr/>
          <p:nvPr/>
        </p:nvSpPr>
        <p:spPr>
          <a:xfrm>
            <a:off x="4754879" y="1965960"/>
            <a:ext cx="3931921" cy="777241"/>
          </a:xfrm>
          <a:prstGeom prst="rect">
            <a:avLst/>
          </a:prstGeom>
          <a:solidFill>
            <a:srgbClr val="16213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9" name="Shape 10"/>
          <p:cNvSpPr/>
          <p:nvPr/>
        </p:nvSpPr>
        <p:spPr>
          <a:xfrm>
            <a:off x="4754879" y="1965960"/>
            <a:ext cx="64009" cy="777241"/>
          </a:xfrm>
          <a:prstGeom prst="rect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0" name="Text 11"/>
          <p:cNvSpPr txBox="1"/>
          <p:nvPr/>
        </p:nvSpPr>
        <p:spPr>
          <a:xfrm>
            <a:off x="4983479" y="2082993"/>
            <a:ext cx="347472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E94560"/>
                </a:solidFill>
              </a:defRPr>
            </a:lvl1pPr>
          </a:lstStyle>
          <a:p>
            <a:pPr/>
            <a:r>
              <a:t>KNN räcker</a:t>
            </a:r>
          </a:p>
        </p:txBody>
      </p:sp>
      <p:sp>
        <p:nvSpPr>
          <p:cNvPr id="131" name="Text 12"/>
          <p:cNvSpPr txBox="1"/>
          <p:nvPr/>
        </p:nvSpPr>
        <p:spPr>
          <a:xfrm>
            <a:off x="4983479" y="2318057"/>
            <a:ext cx="3474721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A8B2D1"/>
                </a:solidFill>
              </a:defRPr>
            </a:lvl1pPr>
          </a:lstStyle>
          <a:p>
            <a:pPr/>
            <a:r>
              <a:t>Enkel modell som ger ett nästan perfekt resultat. Ingen deep learning behövs.</a:t>
            </a:r>
          </a:p>
        </p:txBody>
      </p:sp>
      <p:sp>
        <p:nvSpPr>
          <p:cNvPr id="132" name="Shape 13"/>
          <p:cNvSpPr/>
          <p:nvPr/>
        </p:nvSpPr>
        <p:spPr>
          <a:xfrm>
            <a:off x="4754879" y="2880360"/>
            <a:ext cx="3931921" cy="777241"/>
          </a:xfrm>
          <a:prstGeom prst="rect">
            <a:avLst/>
          </a:prstGeom>
          <a:solidFill>
            <a:srgbClr val="16213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3" name="Shape 14"/>
          <p:cNvSpPr/>
          <p:nvPr/>
        </p:nvSpPr>
        <p:spPr>
          <a:xfrm>
            <a:off x="4754879" y="2880360"/>
            <a:ext cx="64009" cy="777241"/>
          </a:xfrm>
          <a:prstGeom prst="rect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4" name="Text 15"/>
          <p:cNvSpPr txBox="1"/>
          <p:nvPr/>
        </p:nvSpPr>
        <p:spPr>
          <a:xfrm>
            <a:off x="4983479" y="2997393"/>
            <a:ext cx="347472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E94560"/>
                </a:solidFill>
              </a:defRPr>
            </a:lvl1pPr>
          </a:lstStyle>
          <a:p>
            <a:pPr/>
            <a:r>
              <a:t>Balanserat dataset</a:t>
            </a:r>
          </a:p>
        </p:txBody>
      </p:sp>
      <p:sp>
        <p:nvSpPr>
          <p:cNvPr id="135" name="Text 16"/>
          <p:cNvSpPr txBox="1"/>
          <p:nvPr/>
        </p:nvSpPr>
        <p:spPr>
          <a:xfrm>
            <a:off x="4983479" y="3327707"/>
            <a:ext cx="347472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A8B2D1"/>
                </a:solidFill>
              </a:defRPr>
            </a:lvl1pPr>
          </a:lstStyle>
          <a:p>
            <a:pPr/>
            <a:r>
              <a:t>Stratifierad split + balanserade klasser → pålitliga mått.</a:t>
            </a:r>
          </a:p>
        </p:txBody>
      </p:sp>
      <p:sp>
        <p:nvSpPr>
          <p:cNvPr id="136" name="Shape 17"/>
          <p:cNvSpPr/>
          <p:nvPr/>
        </p:nvSpPr>
        <p:spPr>
          <a:xfrm>
            <a:off x="4754879" y="3794759"/>
            <a:ext cx="3931921" cy="777241"/>
          </a:xfrm>
          <a:prstGeom prst="rect">
            <a:avLst/>
          </a:prstGeom>
          <a:solidFill>
            <a:srgbClr val="16213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7" name="Shape 18"/>
          <p:cNvSpPr/>
          <p:nvPr/>
        </p:nvSpPr>
        <p:spPr>
          <a:xfrm>
            <a:off x="4754879" y="3794759"/>
            <a:ext cx="64009" cy="777241"/>
          </a:xfrm>
          <a:prstGeom prst="rect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8" name="Text 19"/>
          <p:cNvSpPr txBox="1"/>
          <p:nvPr/>
        </p:nvSpPr>
        <p:spPr>
          <a:xfrm>
            <a:off x="4983479" y="3911793"/>
            <a:ext cx="347472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E94560"/>
                </a:solidFill>
              </a:defRPr>
            </a:lvl1pPr>
          </a:lstStyle>
          <a:p>
            <a:pPr/>
            <a:r>
              <a:t>Minimal förväxling</a:t>
            </a:r>
          </a:p>
        </p:txBody>
      </p:sp>
      <p:sp>
        <p:nvSpPr>
          <p:cNvPr id="139" name="Text 20"/>
          <p:cNvSpPr txBox="1"/>
          <p:nvPr/>
        </p:nvSpPr>
        <p:spPr>
          <a:xfrm>
            <a:off x="4983479" y="4242107"/>
            <a:ext cx="347472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A8B2D1"/>
                </a:solidFill>
              </a:defRPr>
            </a:lvl1pPr>
          </a:lstStyle>
          <a:p>
            <a:pPr/>
            <a:r>
              <a:t>Bara 1 felklassificering av 920. Klass 'oo' förväxlades.</a:t>
            </a:r>
          </a:p>
        </p:txBody>
      </p:sp>
      <p:sp>
        <p:nvSpPr>
          <p:cNvPr id="140" name="Shape 21"/>
          <p:cNvSpPr/>
          <p:nvPr/>
        </p:nvSpPr>
        <p:spPr>
          <a:xfrm>
            <a:off x="640080" y="4617720"/>
            <a:ext cx="2286001" cy="1"/>
          </a:xfrm>
          <a:prstGeom prst="line">
            <a:avLst/>
          </a:prstGeom>
          <a:ln w="25400">
            <a:solidFill>
              <a:srgbClr val="E9456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1" name="Text 22"/>
          <p:cNvSpPr txBox="1"/>
          <p:nvPr/>
        </p:nvSpPr>
        <p:spPr>
          <a:xfrm>
            <a:off x="640080" y="4764603"/>
            <a:ext cx="36576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600">
                <a:solidFill>
                  <a:srgbClr val="A8B2D1"/>
                </a:solidFill>
              </a:defRPr>
            </a:lvl1pPr>
          </a:lstStyle>
          <a:p>
            <a:pPr/>
            <a:r>
              <a:t>HiraBot 3000 fungerar på vår testdata.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4" name="Text 1"/>
          <p:cNvSpPr txBox="1"/>
          <p:nvPr/>
        </p:nvSpPr>
        <p:spPr>
          <a:xfrm>
            <a:off x="731520" y="500507"/>
            <a:ext cx="7680960" cy="86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4800">
                <a:solidFill>
                  <a:srgbClr val="E94560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Resultat</a:t>
            </a:r>
          </a:p>
        </p:txBody>
      </p:sp>
      <p:sp>
        <p:nvSpPr>
          <p:cNvPr id="145" name="Text 2"/>
          <p:cNvSpPr txBox="1"/>
          <p:nvPr/>
        </p:nvSpPr>
        <p:spPr>
          <a:xfrm>
            <a:off x="731520" y="1447289"/>
            <a:ext cx="7680960" cy="304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defTabSz="457200">
              <a:defRPr sz="20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rPr b="1"/>
              <a:t>HiraBot 3000 </a:t>
            </a:r>
            <a:r>
              <a:t>fungerar nästan lite för bra och</a:t>
            </a:r>
            <a:r>
              <a:rPr b="1"/>
              <a:t> </a:t>
            </a:r>
            <a:r>
              <a:t>Istället för effektiv propaganda börjar den skriva extremt artiga och märkliga meddelanden överallt.</a:t>
            </a:r>
          </a:p>
          <a:p>
            <a:pPr defTabSz="457200">
              <a:defRPr sz="20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  <a:p>
            <a:pPr defTabSz="457200">
              <a:defRPr sz="20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Ingen blir hjärntvättad, men plötsligt börjar japanska turister fråga resebyråer om midsommar, allemansrätten och varför svenskar lägger fisk som luktar illa i burkar.</a:t>
            </a:r>
          </a:p>
          <a:p>
            <a:pPr defTabSz="457200">
              <a:defRPr sz="20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  <a:p>
            <a:pPr defTabSz="457200">
              <a:defRPr b="1" sz="20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Visit Lagom kallar det en framgång!</a:t>
            </a:r>
            <a:endParaRPr b="0">
              <a:solidFill>
                <a:srgbClr val="D4D4D4"/>
              </a:solidFill>
            </a:endParaR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img.png" descr="img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